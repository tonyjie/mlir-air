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12"/>
  </p:sldMasterIdLst>
  <p:notesMasterIdLst>
    <p:notesMasterId r:id="rId17"/>
  </p:notesMasterIdLst>
  <p:handoutMasterIdLst>
    <p:handoutMasterId r:id="rId18"/>
  </p:handoutMasterIdLst>
  <p:sldIdLst>
    <p:sldId id="256" r:id="rId16"/>
    <p:sldId id="257" r:id="rId15"/>
    <p:sldId id="258" r:id="rId14"/>
    <p:sldId id="259" r:id="rId13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77DA37-B690-48A9-ACA4-409EB634F854}">
          <p14:sldIdLst>
            <p14:sldId id="284"/>
            <p14:sldId id="367"/>
            <p14:sldId id="368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DE"/>
    <a:srgbClr val="8D8C95"/>
    <a:srgbClr val="000000"/>
    <a:srgbClr val="262626"/>
    <a:srgbClr val="131313"/>
    <a:srgbClr val="242428"/>
    <a:srgbClr val="19181C"/>
    <a:srgbClr val="E15310"/>
    <a:srgbClr val="006D85"/>
    <a:srgbClr val="888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7C62D-4305-4450-89FF-EC94C0F8B5B4}" v="1690" dt="2026-04-02T17:59:12.602"/>
    <p1510:client id="{9EAEE282-025E-4126-958B-DE50AF55AAD6}" v="2" dt="2026-04-03T02:50:16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0630" autoAdjust="0"/>
  </p:normalViewPr>
  <p:slideViewPr>
    <p:cSldViewPr snapToGrid="0">
      <p:cViewPr varScale="1">
        <p:scale>
          <a:sx n="98" d="100"/>
          <a:sy n="98" d="100"/>
        </p:scale>
        <p:origin x="1296" y="72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slideMaster" Target="slideMasters/slideMaster1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Jiajie" userId="9d92e5f8-1246-44fe-aec8-9652ee53edd1" providerId="ADAL" clId="{882C2438-9AB7-441D-A774-816E1E91D636}"/>
    <pc:docChg chg="undo custSel addSld delSld modSld sldOrd addSection delSection modSection">
      <pc:chgData name="Li, Jiajie" userId="9d92e5f8-1246-44fe-aec8-9652ee53edd1" providerId="ADAL" clId="{882C2438-9AB7-441D-A774-816E1E91D636}" dt="2026-04-03T02:50:23.611" v="52" actId="20577"/>
      <pc:docMkLst>
        <pc:docMk/>
      </pc:docMkLst>
      <pc:sldChg chg="add del ord modTransition">
        <pc:chgData name="Li, Jiajie" userId="9d92e5f8-1246-44fe-aec8-9652ee53edd1" providerId="ADAL" clId="{882C2438-9AB7-441D-A774-816E1E91D636}" dt="2026-04-03T02:50:16.879" v="50"/>
        <pc:sldMkLst>
          <pc:docMk/>
          <pc:sldMk cId="2897248901" sldId="283"/>
        </pc:sldMkLst>
      </pc:sldChg>
      <pc:sldChg chg="addSp delSp modSp mod modTransition">
        <pc:chgData name="Li, Jiajie" userId="9d92e5f8-1246-44fe-aec8-9652ee53edd1" providerId="ADAL" clId="{882C2438-9AB7-441D-A774-816E1E91D636}" dt="2026-04-03T02:50:23.611" v="52" actId="20577"/>
        <pc:sldMkLst>
          <pc:docMk/>
          <pc:sldMk cId="2859063927" sldId="284"/>
        </pc:sldMkLst>
        <pc:spChg chg="add del mod">
          <ac:chgData name="Li, Jiajie" userId="9d92e5f8-1246-44fe-aec8-9652ee53edd1" providerId="ADAL" clId="{882C2438-9AB7-441D-A774-816E1E91D636}" dt="2026-04-03T02:48:58.878" v="25" actId="478"/>
          <ac:spMkLst>
            <pc:docMk/>
            <pc:sldMk cId="2859063927" sldId="284"/>
            <ac:spMk id="3" creationId="{CFC1BFA8-FAAC-5092-A914-3622670DEABD}"/>
          </ac:spMkLst>
        </pc:spChg>
        <pc:spChg chg="mod">
          <ac:chgData name="Li, Jiajie" userId="9d92e5f8-1246-44fe-aec8-9652ee53edd1" providerId="ADAL" clId="{882C2438-9AB7-441D-A774-816E1E91D636}" dt="2026-04-03T02:50:21.134" v="51" actId="20577"/>
          <ac:spMkLst>
            <pc:docMk/>
            <pc:sldMk cId="2859063927" sldId="284"/>
            <ac:spMk id="4" creationId="{92D4D9CA-F34A-7824-0DAE-1C328DB20EF9}"/>
          </ac:spMkLst>
        </pc:spChg>
        <pc:spChg chg="add del mod">
          <ac:chgData name="Li, Jiajie" userId="9d92e5f8-1246-44fe-aec8-9652ee53edd1" providerId="ADAL" clId="{882C2438-9AB7-441D-A774-816E1E91D636}" dt="2026-04-03T02:50:23.611" v="52" actId="20577"/>
          <ac:spMkLst>
            <pc:docMk/>
            <pc:sldMk cId="2859063927" sldId="284"/>
            <ac:spMk id="5" creationId="{45B439E4-7F4F-D558-D4BA-B20CC0A9D311}"/>
          </ac:spMkLst>
        </pc:spChg>
      </pc:sldChg>
      <pc:sldChg chg="new del">
        <pc:chgData name="Li, Jiajie" userId="9d92e5f8-1246-44fe-aec8-9652ee53edd1" providerId="ADAL" clId="{882C2438-9AB7-441D-A774-816E1E91D636}" dt="2026-04-03T02:48:56.233" v="18" actId="680"/>
        <pc:sldMkLst>
          <pc:docMk/>
          <pc:sldMk cId="1737788479" sldId="285"/>
        </pc:sldMkLst>
      </pc:sldChg>
      <pc:sldChg chg="new add del">
        <pc:chgData name="Li, Jiajie" userId="9d92e5f8-1246-44fe-aec8-9652ee53edd1" providerId="ADAL" clId="{882C2438-9AB7-441D-A774-816E1E91D636}" dt="2026-04-03T02:48:58.697" v="24" actId="680"/>
        <pc:sldMkLst>
          <pc:docMk/>
          <pc:sldMk cId="2179705225" sldId="285"/>
        </pc:sldMkLst>
      </pc:sldChg>
      <pc:sldChg chg="new add del">
        <pc:chgData name="Li, Jiajie" userId="9d92e5f8-1246-44fe-aec8-9652ee53edd1" providerId="ADAL" clId="{882C2438-9AB7-441D-A774-816E1E91D636}" dt="2026-04-03T02:48:58.537" v="23" actId="680"/>
        <pc:sldMkLst>
          <pc:docMk/>
          <pc:sldMk cId="1076057348" sldId="286"/>
        </pc:sldMkLst>
      </pc:sldChg>
      <pc:sldChg chg="new del">
        <pc:chgData name="Li, Jiajie" userId="9d92e5f8-1246-44fe-aec8-9652ee53edd1" providerId="ADAL" clId="{882C2438-9AB7-441D-A774-816E1E91D636}" dt="2026-04-03T02:48:56.077" v="17" actId="680"/>
        <pc:sldMkLst>
          <pc:docMk/>
          <pc:sldMk cId="2938166488" sldId="286"/>
        </pc:sldMkLst>
      </pc:sldChg>
      <pc:sldChg chg="new add del">
        <pc:chgData name="Li, Jiajie" userId="9d92e5f8-1246-44fe-aec8-9652ee53edd1" providerId="ADAL" clId="{882C2438-9AB7-441D-A774-816E1E91D636}" dt="2026-04-03T02:48:58.375" v="22" actId="680"/>
        <pc:sldMkLst>
          <pc:docMk/>
          <pc:sldMk cId="445900721" sldId="287"/>
        </pc:sldMkLst>
      </pc:sldChg>
      <pc:sldChg chg="new del">
        <pc:chgData name="Li, Jiajie" userId="9d92e5f8-1246-44fe-aec8-9652ee53edd1" providerId="ADAL" clId="{882C2438-9AB7-441D-A774-816E1E91D636}" dt="2026-04-03T02:48:55.898" v="16" actId="680"/>
        <pc:sldMkLst>
          <pc:docMk/>
          <pc:sldMk cId="2960350039" sldId="287"/>
        </pc:sldMkLst>
      </pc:sldChg>
      <pc:sldChg chg="new add del">
        <pc:chgData name="Li, Jiajie" userId="9d92e5f8-1246-44fe-aec8-9652ee53edd1" providerId="ADAL" clId="{882C2438-9AB7-441D-A774-816E1E91D636}" dt="2026-04-03T02:48:57.969" v="21" actId="680"/>
        <pc:sldMkLst>
          <pc:docMk/>
          <pc:sldMk cId="3915780371" sldId="288"/>
        </pc:sldMkLst>
      </pc:sldChg>
      <pc:sldChg chg="new add del">
        <pc:chgData name="Li, Jiajie" userId="9d92e5f8-1246-44fe-aec8-9652ee53edd1" providerId="ADAL" clId="{882C2438-9AB7-441D-A774-816E1E91D636}" dt="2026-04-03T02:48:57.054" v="20" actId="680"/>
        <pc:sldMkLst>
          <pc:docMk/>
          <pc:sldMk cId="3710772273" sldId="289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1072864192" sldId="329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822451950" sldId="330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3372518893" sldId="332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2709073593" sldId="335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2844382425" sldId="336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674689501" sldId="338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2708436540" sldId="340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3549648357" sldId="341"/>
        </pc:sldMkLst>
      </pc:sldChg>
      <pc:sldChg chg="add del">
        <pc:chgData name="Li, Jiajie" userId="9d92e5f8-1246-44fe-aec8-9652ee53edd1" providerId="ADAL" clId="{882C2438-9AB7-441D-A774-816E1E91D636}" dt="2026-04-03T02:49:34.351" v="38" actId="47"/>
        <pc:sldMkLst>
          <pc:docMk/>
          <pc:sldMk cId="2588569854" sldId="349"/>
        </pc:sldMkLst>
      </pc:sldChg>
      <pc:sldChg chg="add del">
        <pc:chgData name="Li, Jiajie" userId="9d92e5f8-1246-44fe-aec8-9652ee53edd1" providerId="ADAL" clId="{882C2438-9AB7-441D-A774-816E1E91D636}" dt="2026-04-03T02:49:10.928" v="36" actId="47"/>
        <pc:sldMkLst>
          <pc:docMk/>
          <pc:sldMk cId="2715628332" sldId="350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2367951513" sldId="351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4109563201" sldId="352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1014365024" sldId="353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2004672536" sldId="354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5880440" sldId="357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1330110543" sldId="358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2053146719" sldId="359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3675376085" sldId="360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1997086086" sldId="361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3483745233" sldId="362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2279076979" sldId="363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2734353094" sldId="364"/>
        </pc:sldMkLst>
      </pc:sldChg>
      <pc:sldChg chg="add del">
        <pc:chgData name="Li, Jiajie" userId="9d92e5f8-1246-44fe-aec8-9652ee53edd1" providerId="ADAL" clId="{882C2438-9AB7-441D-A774-816E1E91D636}" dt="2026-04-03T02:49:10.928" v="36" actId="47"/>
        <pc:sldMkLst>
          <pc:docMk/>
          <pc:sldMk cId="2478624238" sldId="365"/>
        </pc:sldMkLst>
      </pc:sldChg>
      <pc:sldChg chg="add del">
        <pc:chgData name="Li, Jiajie" userId="9d92e5f8-1246-44fe-aec8-9652ee53edd1" providerId="ADAL" clId="{882C2438-9AB7-441D-A774-816E1E91D636}" dt="2026-04-03T02:49:29.054" v="37" actId="47"/>
        <pc:sldMkLst>
          <pc:docMk/>
          <pc:sldMk cId="3666957117" sldId="366"/>
        </pc:sldMkLst>
      </pc:sldChg>
      <pc:sldChg chg="new modTransition">
        <pc:chgData name="Li, Jiajie" userId="9d92e5f8-1246-44fe-aec8-9652ee53edd1" providerId="ADAL" clId="{882C2438-9AB7-441D-A774-816E1E91D636}" dt="2026-04-03T02:50:16.879" v="50"/>
        <pc:sldMkLst>
          <pc:docMk/>
          <pc:sldMk cId="3939867407" sldId="367"/>
        </pc:sldMkLst>
      </pc:sldChg>
      <pc:sldChg chg="new ord modTransition">
        <pc:chgData name="Li, Jiajie" userId="9d92e5f8-1246-44fe-aec8-9652ee53edd1" providerId="ADAL" clId="{882C2438-9AB7-441D-A774-816E1E91D636}" dt="2026-04-03T02:50:16.879" v="50"/>
        <pc:sldMkLst>
          <pc:docMk/>
          <pc:sldMk cId="10676450" sldId="368"/>
        </pc:sldMkLst>
      </pc:sldChg>
      <pc:sldChg chg="new del">
        <pc:chgData name="Li, Jiajie" userId="9d92e5f8-1246-44fe-aec8-9652ee53edd1" providerId="ADAL" clId="{882C2438-9AB7-441D-A774-816E1E91D636}" dt="2026-04-03T02:49:08.549" v="35" actId="47"/>
        <pc:sldMkLst>
          <pc:docMk/>
          <pc:sldMk cId="2825920374" sldId="36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4/2/2026 7:48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4/2/2026 7:47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351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5CA0A-C2DC-0C55-E585-40512B3254F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65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32" r:id="rId26"/>
    <p:sldLayoutId id="2147484927" r:id="rId27"/>
    <p:sldLayoutId id="2147484671" r:id="rId28"/>
    <p:sldLayoutId id="2147484585" r:id="rId29"/>
    <p:sldLayoutId id="2147484924" r:id="rId30"/>
    <p:sldLayoutId id="2147484299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LLAMA-3.2-1B BF16 Inference</a:t>
            </a:r>
            <a:br/>
            <a:r>
              <a:t>on MLIR-AIR (NPU2)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Progress Report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Prefill: 1.92s</a:t>
            </a:r>
            <a:br/>
            <a:r>
              <a:t>30% faster than IRON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Decode: 351 ms/tok</a:t>
            </a:r>
            <a:br/>
            <a:r>
              <a:t>5% faster than IRON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3832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83464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AIR (Ours)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IRON (Ref)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Prefill (seq=2048)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1.92s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2.744s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30% faster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Decode (steady-state)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351 ms/tok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370 ms/tok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5% faster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Correctness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Top-1 = "Paris"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corr 0.993 vs CPU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Prefill inv/layer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58% fewer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Decode inv/block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17% fewer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LLAMA-3.2-1B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400" b="1"/>
            </a:pPr>
            <a:r>
              <a:t>1B parameter decoder-only transformer, 16 layers, BF16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Embedding dim = 2048, 32 Q heads / 8 KV heads (GQA), head dim = 64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FFN hidden dim = 8192, vocab = 128,256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Per-layer: RMSNorm -&gt; Q/K/V -&gt; RoPE -&gt; Attention -&gt; O + Add -&gt; RMSNorm -&gt; FFN -&gt; Add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6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/>
              <a:t>Two inference phases: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Prefill: process full prompt (seq_len=2048) with GEMM (matrix-matrix)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Decode: generate tokens one at a time with GEMV (matrix-vector)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6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1">
                <a:solidFill>
                  <a:srgbClr val="ED1C24"/>
                </a:solidFill>
              </a:rPr>
              <a:t>Reference: IRON (AMD's NPU framework) has working LLAMA at 2.744s prefill, 370ms/tok decode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MLIR-AIR Starting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400" b="1"/>
            </a:pPr>
            <a:r>
              <a:t>MLIR-AIR: compiler framework mapping AI workloads to AMD NPU via MLIR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Pipeline: Python IR gen -&gt; AIR MLIR -&gt; air-opt -&gt; aircc -&gt; aiecc -&gt; xclbin/ELF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Target: NPU2 (AIE2P, Strix) — 8 columns x 5 rows compute array, shared DDR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6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/>
              <a:t>What existed at project start: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Individual operator examples (GEMM, softmax, RMSNorm, etc.) at small sizes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No end-to-end model inference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No multi-launch ELF (operator fusion)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No GEMV (decode) kernel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6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/>
              <a:t>What we built: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Full prefill pipeline: 7 fused kernel ELFs, 5 invocations/layer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Full decode pipeline: 9 kernels, 10 invocations/block + CPU attention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0"/>
              <a:t>Multi-launch ELF infrastructure for operator 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Prefill Pipeline: 5 Invocations per Layer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2011680"/>
                <a:gridCol w="1188720"/>
                <a:gridCol w="1097280"/>
                <a:gridCol w="32918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Launches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Detail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 + Q/K/V GEMMs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rms_attn_gemms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8-tile RMSNorm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RoPE Q+K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rope_qk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 herds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11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LUT-based rotation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Flash Attention GQA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flash_attn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32Q/8KV heads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 GEMM + Residual Add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o_proj_add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Fused residual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 + FFN + 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ffn_full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8-tile RMSNorm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Per-layer total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 calls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~100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LM 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lm_head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171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8-partition ELF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Total prefill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1.92s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IRON: 2.744s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8595B"/>
                </a:solidFill>
              </a:defRPr>
            </a:pPr>
            <a:r>
              <a:t>Each kernel = multi-launch ELF: multiple air.launch ops in one MLIR module, single xrt.run() per invocation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Prefill Optimization: 18.67s -&gt; 1.92s (10x)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1828800"/>
                <a:gridCol w="2377440"/>
              </a:tblGrid>
              <a:tr h="43226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Changed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16-Layer 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vs IRON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F32 scalar, no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18.67s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7.8x slower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+BF16 vectorize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BF16 eltwise ops, vec=16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13.40s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5.6x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+XRT reuse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Cache XRT contexts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8.77s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3.7x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+BO reuse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Pre-allocate buffer objects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6.49s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2.7x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+GEMM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Tile size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3.57s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1.5x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+FlashAttn NPU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CPU -&gt; NPU attention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3.88s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1.6x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+Multi-launch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FFN 4-launch, QKV 3-launch 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2.45s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0.92x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+All merges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 inv/layer + bo.map() zero-copy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1.81s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0.74x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+LM Head NPU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8-partition ELF, static weight BOs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2.05s*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0.75x</a:t>
                      </a:r>
                    </a:p>
                  </a:txBody>
                  <a:tcPr anchor="ctr"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+8-tile RMSNorm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Broadcast DMA fix, herd=[8,1]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1.92s*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0.70x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8595B"/>
                </a:solidFill>
              </a:defRPr>
            </a:pPr>
            <a:r>
              <a:t>* Total prefill includes LM Head (171ms) + embedding overhead.  IRON total = 2.744s.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Prefill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Multi-Launch ELF Fusion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Stitch 2-6 air.launch ops into one MLIR module via text-based IR stitching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Single xrt.run() per fused kernel — reduced 10 -&gt; 5 invocations/layer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bo.map() Zero-Copy Buffer I/O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Replace bo.read() (alloc+memcpy) with memory-mapped np.frombuffer(bo.map())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Matching IRON's approach on Ryzen AI shared-memory architecture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8-Tile RMSNorm with Broadcast Weight DMA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Weight vector broadcast to all 8 tiles via single DMA (no tile-dependent offset)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Required upstream compiler fix (stride=0 BD verifier). Standalone: 6ms -&gt; 0.9ms (6.7x)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NPU LM Head (8-Partition Multi-Launch)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Vocab projection 2048x128K partitioned into 8 GEMMs, static weight BOs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171ms vs IRON 217ms (21% faster) vs CPU 1,526ms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 Pipeline: 10 Invocations per Block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560320"/>
                <a:gridCol w="2103120"/>
                <a:gridCol w="2377440"/>
              </a:tblGrid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Herd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 (pre-attn)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[1,1]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 ms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Q+K+V GEMV (merged)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qkv_gemv ELF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[8,1]x3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1.0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RoPE Q, RoPE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rope_q/k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[1,1]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 ms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CPU attention (GQA)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~2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 GEMV + Add (merged)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o_gemv_add 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[8,1]+[8,1]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 ms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 (pre-FFN)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[1,1]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Gate+Up GEMV (merged)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gate_up_gemv 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2.5 ms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SiLU x mul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silu_mul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Down GEMV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gemv_down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2.1 ms</a:t>
                      </a:r>
                    </a:p>
                  </a:txBody>
                  <a:tcPr anchor="ctr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Residual Add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add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[8,1]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Per-block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~8 ms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Decode: From Scratch to Faster than IRON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300" b="1"/>
            </a:pPr>
            <a:r>
              <a:t>Built GEMV kernel (matrix-vector) from scratch — didn't exist in MLIR-AIR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4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Phase 1: First Working Pipeline  (~500 ms/tok)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15 NPU calls/block, CPU SiLU, no BO caching, Python invoker overhead dominated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Phase 2: Static Weight BOs + bo.map()  (~340 ms/tok)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Per-layer BO isolation via bo_key (128 BO sets, 8 XRT contexts)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Weights written once on first token, skipped on subsequent — saved 160 ms/tok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Phase 3: Multi-Launch + NPU SiLU  (~351 ms/tok)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Merged Q+K+V (3-&gt;1), O+Add (2-&gt;1), Gate+Up (2-&gt;1) into multi-launch ELFs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Moved SiLU x mul to NPU, upgraded eltwise_add to [8,1] herd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4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009632"/>
                </a:solidFill>
              </a:rPr>
              <a:t>Steady-state: 351 ms/tok (IRON: 370 ms/tok) — AIR 5% faster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 vs IRON: Architecture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AIR (Ours)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IRON (Reference)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Kernel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Multi-launch ELF</a:t>
                      </a:r>
                    </a:p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(2-8 air.launch per ELF)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Runlist</a:t>
                      </a:r>
                    </a:p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(multiple xclbin entries)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Operator fusion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Text-based MLIR stitching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Built-in runlist support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Data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DDR -&gt; L2 -&gt; L1</a:t>
                      </a:r>
                    </a:p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(MemTile staging)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DDR -&gt; L1 direct</a:t>
                      </a:r>
                    </a:p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(ObjectFIFO)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Buffer I/O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bo.map() zero-copy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bo.map() zero-copy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RMSNorm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8-tile broadcast (0.9 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16-tile ObjectFIFO (4.3 ms)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FFN (decode)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 separate NPU calls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 fused SwiGLU (5 entries)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LM Head (prefill)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8-launch ELF (171 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Single op (217 ms)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Prefill dispatches/layer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Decode dispatches/block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300"/>
            </a:pPr>
            <a:r>
              <a:t>Bugs discovered and resolved during development: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4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1">
                <a:solidFill>
                  <a:srgbClr val="009632"/>
                </a:solidFill>
              </a:rPr>
              <a:t>Broadcast DMA stride=0 rejection  [FIXED upstream]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Multi-tile kernels with shared weights failed at aie.dma_bd verifier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Fix enabled 8-tile RMSNorm: 6ms -&gt; 0.9ms (6.7x faster)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1">
                <a:solidFill>
                  <a:srgbClr val="FF9900"/>
                </a:solidFill>
              </a:rPr>
              <a:t>Bare herd in multi-launch ELF  [WORKAROUND]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Herd without air.segment silently dropped during legalization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Solution: _wrap_ir_in_launch() adds segment wrapper automatically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1">
                <a:solidFill>
                  <a:srgbClr val="ED1C24"/>
                </a:solidFill>
              </a:rPr>
              <a:t>BF16 DMA stride limitation  [HARDWARE]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AIE DMA requires innermost stride=1 for sub-32b types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Blocks DMA-only transpose for BF16 (would save 2 inv/layer in prefill)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300"/>
            </a:pPr>
            <a:r>
              <a:rPr sz="1300" b="1">
                <a:solidFill>
                  <a:srgbClr val="ED1C24"/>
                </a:solidFill>
              </a:rPr>
              <a:t>linalg_fill type mismatch  [OPEN]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Different GEMV tile_m sizes produce incompatible func signatures in same module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Blocks FFN full merge for decode (5 launches in 1 ELF)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Documentation-Driven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defRPr sz="1300"/>
            </a:pPr>
            <a:r>
              <a:t>Structured approach across multiple working sessions: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400"/>
            </a:pP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Phased roadmap with clear entry/exit criteria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Infrastructure -&gt; Kernel validation -&gt; Single layer -&gt; Full model -&gt; Performance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Correctness verified before each performance optimization step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Living documentation (8+ docs maintained throughout)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LLAMA_PLAN.md: single-page status overview for session restoration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perf_opt_prefill.md: optimization timeline with per-step measurements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Per-kernel analysis docs and compiler bug reports with reproducers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400"/>
            </a:pPr>
            <a:r>
              <a:rPr sz="1400" b="1">
                <a:solidFill>
                  <a:srgbClr val="ED1C24"/>
                </a:solidFill>
              </a:rPr>
              <a:t>Claude Code as development partner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Plan mode for design, subagents for parallel exploration, auto-memory for context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Iterative loop: change -&gt; compile -&gt; run -&gt; profile -&gt; compare -&gt; decide next</a:t>
            </a:r>
          </a:p>
          <a:p>
            <a:pPr lvl="1">
              <a:spcBef>
                <a:spcPts val="100"/>
              </a:spcBef>
              <a:spcAft>
                <a:spcPts val="400"/>
              </a:spcAft>
              <a:defRPr sz="1200"/>
            </a:pPr>
            <a:r>
              <a:rPr sz="1200" b="0"/>
              <a:t>Documentation-first: each session starts by reading LLAMA_PLAN.md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Work &amp; Future Directions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Expected Impact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Variable-length input sequences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Usability (any prompt length)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 investigate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NPU LM Head for decode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~40 ms/tok faster decode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FFN full merge for 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~10 ms/tok (3 fewer dispatches)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Blocked (type mismatch)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NPU prefill for KV cache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16s -&gt; 2s init 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Unified prefill + decode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User-facing convenience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DMA transpose (prefill)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5 -&gt; 3 inv/layer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Blocked (BF16 stride)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Variable-length input: Currently our pipeline requires fixed seq_len=2048. Short prompts are padded with EOS tokens, wasting compute. IRON handles arbitrary prompt lengths — investigating their approach is a key next step for practical usability.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572000" cy="9144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Prefill: 1.92s  (30% faster than IRON)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4572000" cy="9144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Decode: 351 ms/tok  (5% faster than IRON)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A1A2E"/>
                </a:solidFill>
              </a:defRPr>
            </a:pPr>
            <a:r>
              <a:t>Built end-to-end LLAMA-3.2-1B inference on MLIR-AIR from scratch</a:t>
            </a:r>
          </a:p>
          <a:p>
            <a:pPr>
              <a:spcAft>
                <a:spcPts val="300"/>
              </a:spcAft>
              <a:defRPr sz="1300" b="0"/>
            </a:pPr>
            <a:r>
              <a:t>Prefill: 7 fused kernel ELFs, 5 invocations/layer, NPU LM Head</a:t>
            </a:r>
          </a:p>
          <a:p>
            <a:pPr>
              <a:spcAft>
                <a:spcPts val="300"/>
              </a:spcAft>
              <a:defRPr sz="1300" b="0"/>
            </a:pPr>
            <a:r>
              <a:t>Decode: 9 kernels, 10 invocations/block, static weight BO caching</a:t>
            </a:r>
          </a:p>
          <a:p>
            <a:pPr>
              <a:spcAft>
                <a:spcPts val="100"/>
              </a:spcAft>
              <a:defRPr sz="1300" b="0"/>
            </a:pPr>
          </a:p>
          <a:p>
            <a:pPr>
              <a:spcAft>
                <a:spcPts val="300"/>
              </a:spcAft>
              <a:defRPr sz="1300" b="1">
                <a:solidFill>
                  <a:srgbClr val="1A1A2E"/>
                </a:solidFill>
              </a:defRPr>
            </a:pPr>
            <a:r>
              <a:t>Key techniques that enabled this:</a:t>
            </a:r>
          </a:p>
          <a:p>
            <a:pPr>
              <a:spcAft>
                <a:spcPts val="300"/>
              </a:spcAft>
              <a:defRPr sz="1300" b="0"/>
            </a:pPr>
            <a:r>
              <a:t>Multi-launch ELF fusion (text-based MLIR stitching)</a:t>
            </a:r>
          </a:p>
          <a:p>
            <a:pPr>
              <a:spcAft>
                <a:spcPts val="300"/>
              </a:spcAft>
              <a:defRPr sz="1300" b="0"/>
            </a:pPr>
            <a:r>
              <a:t>bo.map() zero-copy buffer I/O</a:t>
            </a:r>
          </a:p>
          <a:p>
            <a:pPr>
              <a:spcAft>
                <a:spcPts val="300"/>
              </a:spcAft>
              <a:defRPr sz="1300" b="0"/>
            </a:pPr>
            <a:r>
              <a:t>8-tile RMSNorm with broadcast weight DMA (compiler bug fixed)</a:t>
            </a:r>
          </a:p>
          <a:p>
            <a:pPr>
              <a:spcAft>
                <a:spcPts val="300"/>
              </a:spcAft>
              <a:defRPr sz="1300" b="0"/>
            </a:pPr>
            <a:r>
              <a:t>Static weight BO caching with per-layer isolation</a:t>
            </a:r>
          </a:p>
          <a:p>
            <a:pPr>
              <a:spcAft>
                <a:spcPts val="100"/>
              </a:spcAft>
              <a:defRPr sz="1300" b="0"/>
            </a:pPr>
          </a:p>
          <a:p>
            <a:pPr>
              <a:spcAft>
                <a:spcPts val="300"/>
              </a:spcAft>
              <a:defRPr sz="1300" b="1">
                <a:solidFill>
                  <a:srgbClr val="1A1A2E"/>
                </a:solidFill>
              </a:defRPr>
            </a:pPr>
            <a:r>
              <a:t>Demonstrated MLIR-AIR can match and exceed IRON's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95AE8F77-448C-4B7C-8669-DC6D4241F9CE}">
  <ds:schemaRefs/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06670dda-0291-4061-b6e0-f6c0cb392c51"/>
    <ds:schemaRef ds:uri="http://schemas.microsoft.com/office/infopath/2007/PartnerControls"/>
    <ds:schemaRef ds:uri="http://schemas.openxmlformats.org/package/2006/metadata/core-properties"/>
    <ds:schemaRef ds:uri="e4aa919a-b200-49cb-beca-4c7e0810321e"/>
  </ds:schemaRefs>
</ds:datastoreItem>
</file>

<file path=customXml/itemProps5.xml><?xml version="1.0" encoding="utf-8"?>
<ds:datastoreItem xmlns:ds="http://schemas.openxmlformats.org/officeDocument/2006/customXml" ds:itemID="{3D719615-E8C3-42D3-B19D-076A1FC4620D}">
  <ds:schemaRefs/>
</ds:datastoreItem>
</file>

<file path=customXml/itemProps6.xml><?xml version="1.0" encoding="utf-8"?>
<ds:datastoreItem xmlns:ds="http://schemas.openxmlformats.org/officeDocument/2006/customXml" ds:itemID="{BE3BB7DD-0C86-4747-A387-5C5D191BB970}">
  <ds:schemaRefs/>
</ds:datastoreItem>
</file>

<file path=customXml/itemProps7.xml><?xml version="1.0" encoding="utf-8"?>
<ds:datastoreItem xmlns:ds="http://schemas.openxmlformats.org/officeDocument/2006/customXml" ds:itemID="{C5DD1971-334A-45E9-9D2B-FB6BD8AAE58A}">
  <ds:schemaRefs/>
</ds:datastoreItem>
</file>

<file path=customXml/itemProps8.xml><?xml version="1.0" encoding="utf-8"?>
<ds:datastoreItem xmlns:ds="http://schemas.openxmlformats.org/officeDocument/2006/customXml" ds:itemID="{43BC5722-1D5B-4915-8247-E6D5F513E549}">
  <ds:schemaRefs/>
</ds:datastoreItem>
</file>

<file path=customXml/itemProps9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1AB4A281-5EBA-4CA1-A536-6B29C98890B6}">
  <ds:schemaRefs/>
</ds:datastoreItem>
</file>

<file path=customXml/itemProps11.xml><?xml version="1.0" encoding="utf-8"?>
<ds:datastoreItem xmlns:ds="http://schemas.openxmlformats.org/officeDocument/2006/customXml" ds:itemID="{DDCC6A1B-7673-40E9-AC3E-C0D8F2784A83}">
  <ds:schemaRefs/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31293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Consolas</vt:lpstr>
      <vt:lpstr>Segoe UI</vt:lpstr>
      <vt:lpstr>AMD Corporate Template_Dark</vt:lpstr>
      <vt:lpstr>PowerPoint Presentation</vt:lpstr>
      <vt:lpstr>PowerPoint Presentation</vt:lpstr>
      <vt:lpstr>PowerPoint Presentation</vt:lpstr>
      <vt:lpstr>PowerPoint Presentation</vt:lpstr>
    </vt:vector>
  </TitlesOfParts>
  <Manager>&lt;Comms manager name here&gt;</Manager>
  <Company>AMD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AMD Corporate Powerpoint Template</dc:subject>
  <dc:creator>Papadopoulos, Yiannis</dc:creator>
  <cp:keywords>AMD Corporate Powerpoint Template</cp:keywords>
  <dc:description/>
  <cp:lastModifiedBy>Li, Jiajie</cp:lastModifiedBy>
  <cp:revision>2</cp:revision>
  <cp:lastPrinted>2020-04-30T18:59:47Z</cp:lastPrinted>
  <dcterms:created xsi:type="dcterms:W3CDTF">2026-02-12T17:55:46Z</dcterms:created>
  <dcterms:modified xsi:type="dcterms:W3CDTF">2026-04-03T02:50:24Z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MSIP_Label_64e4cbe8-b4f6-45dc-bcba-6123dfd2d8bf_Enabled">
    <vt:lpwstr>true</vt:lpwstr>
  </property>
  <property fmtid="{D5CDD505-2E9C-101B-9397-08002B2CF9AE}" pid="7" name="MSIP_Label_64e4cbe8-b4f6-45dc-bcba-6123dfd2d8bf_SetDate">
    <vt:lpwstr>2024-02-15T15:59:13Z</vt:lpwstr>
  </property>
  <property fmtid="{D5CDD505-2E9C-101B-9397-08002B2CF9AE}" pid="8" name="MSIP_Label_64e4cbe8-b4f6-45dc-bcba-6123dfd2d8bf_Method">
    <vt:lpwstr>Privileged</vt:lpwstr>
  </property>
  <property fmtid="{D5CDD505-2E9C-101B-9397-08002B2CF9AE}" pid="9" name="MSIP_Label_64e4cbe8-b4f6-45dc-bcba-6123dfd2d8bf_Name">
    <vt:lpwstr>Non-Business-AIP 2.0</vt:lpwstr>
  </property>
  <property fmtid="{D5CDD505-2E9C-101B-9397-08002B2CF9AE}" pid="10" name="MSIP_Label_64e4cbe8-b4f6-45dc-bcba-6123dfd2d8bf_SiteId">
    <vt:lpwstr>3dd8961f-e488-4e60-8e11-a82d994e183d</vt:lpwstr>
  </property>
  <property fmtid="{D5CDD505-2E9C-101B-9397-08002B2CF9AE}" pid="11" name="MSIP_Label_64e4cbe8-b4f6-45dc-bcba-6123dfd2d8bf_ActionId">
    <vt:lpwstr>c382c031-d868-43ef-a7b1-f4e852747774</vt:lpwstr>
  </property>
  <property fmtid="{D5CDD505-2E9C-101B-9397-08002B2CF9AE}" pid="12" name="MSIP_Label_64e4cbe8-b4f6-45dc-bcba-6123dfd2d8bf_ContentBits">
    <vt:lpwstr>0</vt:lpwstr>
  </property>
  <property fmtid="{D5CDD505-2E9C-101B-9397-08002B2CF9AE}" pid="13" name="ClassificationContentMarkingHeaderLocations">
    <vt:lpwstr>AMD Corporate Template_Dark:6</vt:lpwstr>
  </property>
  <property fmtid="{D5CDD505-2E9C-101B-9397-08002B2CF9AE}" pid="14" name="ClassificationContentMarkingHeaderText">
    <vt:lpwstr>[AMD Official Use Only - AMD Internal Distribution Only]</vt:lpwstr>
  </property>
</Properties>
</file>